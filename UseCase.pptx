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7" r:id="rId10"/>
    <p:sldId id="266" r:id="rId11"/>
    <p:sldId id="268" r:id="rId12"/>
    <p:sldId id="263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6ABCE0F-4AEE-5C43-8F6C-AE08C8CC958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0DA557AA-DCA2-AB49-9061-FE05A3E46720}" type="datetimeFigureOut">
              <a:rPr lang="en-US" smtClean="0"/>
              <a:t>10/28/2022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ilemodeling.com/artifacts/useCaseDiagram.htm" TargetMode="External"/><Relationship Id="rId2" Type="http://schemas.openxmlformats.org/officeDocument/2006/relationships/hyperlink" Target="https://www.visual-paradigm.com/guide/uml-unified-modeling-language/what-is-use-case-diagra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utorialspoint.com/uml/uml_use_case_diagram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Advanced Software Engineering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COS550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Full Sail University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583" y="0"/>
            <a:ext cx="1716088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575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use case?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Presents a high-level story</a:t>
            </a:r>
          </a:p>
          <a:p>
            <a:pPr lvl="1"/>
            <a:r>
              <a:rPr lang="en-US" dirty="0"/>
              <a:t>Describing the interactions between the users and the system.</a:t>
            </a:r>
          </a:p>
          <a:p>
            <a:pPr lvl="1"/>
            <a:r>
              <a:rPr lang="en-US" dirty="0"/>
              <a:t>How an end user interacts with the system under specific set of circumstances </a:t>
            </a:r>
          </a:p>
          <a:p>
            <a:pPr lvl="1"/>
            <a:endParaRPr lang="en-US" dirty="0"/>
          </a:p>
          <a:p>
            <a:r>
              <a:rPr lang="en-US" dirty="0"/>
              <a:t>Depicts the system from the end user point of view</a:t>
            </a:r>
          </a:p>
        </p:txBody>
      </p:sp>
    </p:spTree>
    <p:extLst>
      <p:ext uri="{BB962C8B-B14F-4D97-AF65-F5344CB8AC3E}">
        <p14:creationId xmlns:p14="http://schemas.microsoft.com/office/powerpoint/2010/main" val="104758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Can be represented: </a:t>
            </a:r>
          </a:p>
          <a:p>
            <a:pPr lvl="1"/>
            <a:r>
              <a:rPr lang="en-US" dirty="0"/>
              <a:t>Narrative text</a:t>
            </a:r>
          </a:p>
          <a:p>
            <a:pPr lvl="1"/>
            <a:r>
              <a:rPr lang="en-US" dirty="0"/>
              <a:t>Outline of tasks or interactions</a:t>
            </a:r>
          </a:p>
          <a:p>
            <a:pPr lvl="1"/>
            <a:r>
              <a:rPr lang="en-US" dirty="0"/>
              <a:t>A template-based description</a:t>
            </a:r>
          </a:p>
          <a:p>
            <a:pPr lvl="1"/>
            <a:r>
              <a:rPr lang="en-US" dirty="0"/>
              <a:t>Diagram representation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2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Use Case?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First step: Define the set of </a:t>
            </a:r>
            <a:r>
              <a:rPr lang="en-US" i="1" dirty="0"/>
              <a:t>actors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Different people or devices that use the system</a:t>
            </a:r>
          </a:p>
          <a:p>
            <a:pPr lvl="1"/>
            <a:r>
              <a:rPr lang="en-US" dirty="0"/>
              <a:t>External to the system</a:t>
            </a:r>
          </a:p>
          <a:p>
            <a:pPr lvl="1"/>
            <a:r>
              <a:rPr lang="en-US" dirty="0"/>
              <a:t>Have one or more goals when using the system </a:t>
            </a:r>
          </a:p>
          <a:p>
            <a:pPr lvl="1"/>
            <a:r>
              <a:rPr lang="en-US" dirty="0"/>
              <a:t>Two types: </a:t>
            </a:r>
          </a:p>
          <a:p>
            <a:pPr lvl="2"/>
            <a:r>
              <a:rPr lang="en-US" dirty="0"/>
              <a:t>Primary actors:</a:t>
            </a:r>
          </a:p>
          <a:p>
            <a:pPr lvl="3"/>
            <a:r>
              <a:rPr lang="en-US" dirty="0"/>
              <a:t>Work directly and frequently with the system</a:t>
            </a:r>
          </a:p>
          <a:p>
            <a:pPr lvl="3"/>
            <a:r>
              <a:rPr lang="en-US" dirty="0"/>
              <a:t>Interact with the system to achieve required system functions</a:t>
            </a:r>
          </a:p>
          <a:p>
            <a:pPr lvl="2"/>
            <a:r>
              <a:rPr lang="en-US" dirty="0"/>
              <a:t>Secondary actors:</a:t>
            </a:r>
          </a:p>
          <a:p>
            <a:pPr lvl="3"/>
            <a:r>
              <a:rPr lang="en-US" dirty="0"/>
              <a:t>Help the primary actor to complete his task</a:t>
            </a:r>
          </a:p>
        </p:txBody>
      </p:sp>
    </p:spTree>
    <p:extLst>
      <p:ext uri="{BB962C8B-B14F-4D97-AF65-F5344CB8AC3E}">
        <p14:creationId xmlns:p14="http://schemas.microsoft.com/office/powerpoint/2010/main" val="1064794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Use Case? (</a:t>
            </a:r>
            <a:r>
              <a:rPr lang="en-US" i="1" dirty="0"/>
              <a:t>cont</a:t>
            </a:r>
            <a:r>
              <a:rPr lang="en-US" dirty="0"/>
              <a:t>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Answer the following questions to define the actors:</a:t>
            </a:r>
          </a:p>
          <a:p>
            <a:pPr lvl="1"/>
            <a:r>
              <a:rPr lang="en-US" dirty="0"/>
              <a:t>Who are the primary users of the system?</a:t>
            </a:r>
          </a:p>
          <a:p>
            <a:pPr lvl="1"/>
            <a:r>
              <a:rPr lang="en-US" dirty="0"/>
              <a:t>Who are the secondary users of the system?</a:t>
            </a:r>
          </a:p>
          <a:p>
            <a:pPr lvl="1"/>
            <a:r>
              <a:rPr lang="en-US" dirty="0"/>
              <a:t>Are there any other (external) systems that interact with the system?</a:t>
            </a:r>
          </a:p>
          <a:p>
            <a:pPr lvl="1"/>
            <a:r>
              <a:rPr lang="en-US" dirty="0"/>
              <a:t>Does any of the actors have multiple roles?</a:t>
            </a:r>
          </a:p>
          <a:p>
            <a:pPr lvl="1"/>
            <a:r>
              <a:rPr lang="en-US" dirty="0"/>
              <a:t>Are there any other entities that use the system’s output?</a:t>
            </a:r>
          </a:p>
        </p:txBody>
      </p:sp>
    </p:spTree>
    <p:extLst>
      <p:ext uri="{BB962C8B-B14F-4D97-AF65-F5344CB8AC3E}">
        <p14:creationId xmlns:p14="http://schemas.microsoft.com/office/powerpoint/2010/main" val="302386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Use Case? (</a:t>
            </a:r>
            <a:r>
              <a:rPr lang="en-US" i="1" dirty="0"/>
              <a:t>cont</a:t>
            </a:r>
            <a:r>
              <a:rPr lang="en-US" dirty="0"/>
              <a:t>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Second step: build the use case</a:t>
            </a:r>
          </a:p>
          <a:p>
            <a:pPr lvl="1"/>
            <a:r>
              <a:rPr lang="en-US" dirty="0"/>
              <a:t>Pick one of the end-users</a:t>
            </a:r>
          </a:p>
          <a:p>
            <a:pPr lvl="1"/>
            <a:r>
              <a:rPr lang="en-US" dirty="0"/>
              <a:t>Define the different actions that the user can do.</a:t>
            </a:r>
          </a:p>
          <a:p>
            <a:pPr lvl="2"/>
            <a:r>
              <a:rPr lang="en-US" dirty="0"/>
              <a:t>Each action corresponds to one use case. </a:t>
            </a:r>
          </a:p>
          <a:p>
            <a:pPr lvl="1"/>
            <a:r>
              <a:rPr lang="en-US" dirty="0"/>
              <a:t>For each use case:</a:t>
            </a:r>
          </a:p>
          <a:p>
            <a:pPr lvl="2"/>
            <a:r>
              <a:rPr lang="en-US" dirty="0"/>
              <a:t>Define the preconditions </a:t>
            </a:r>
          </a:p>
          <a:p>
            <a:pPr lvl="2"/>
            <a:r>
              <a:rPr lang="en-US" dirty="0"/>
              <a:t>Define the course of events to perform the action</a:t>
            </a:r>
          </a:p>
          <a:p>
            <a:pPr lvl="2"/>
            <a:r>
              <a:rPr lang="en-US" dirty="0"/>
              <a:t>Define the course of events if an exception happens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4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Template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Use Case</a:t>
            </a:r>
            <a:r>
              <a:rPr lang="en-US" dirty="0"/>
              <a:t>: Name of use case</a:t>
            </a:r>
          </a:p>
          <a:p>
            <a:pPr marL="114300" indent="0">
              <a:buNone/>
            </a:pPr>
            <a:r>
              <a:rPr lang="en-US" b="1" dirty="0"/>
              <a:t>Primary actor</a:t>
            </a:r>
            <a:r>
              <a:rPr lang="en-US" dirty="0"/>
              <a:t>: </a:t>
            </a:r>
          </a:p>
          <a:p>
            <a:pPr marL="114300" indent="0">
              <a:buNone/>
            </a:pPr>
            <a:r>
              <a:rPr lang="en-US" b="1" dirty="0"/>
              <a:t>Goal in context</a:t>
            </a:r>
            <a:r>
              <a:rPr lang="en-US" dirty="0"/>
              <a:t>: Brief description of the use case</a:t>
            </a:r>
          </a:p>
          <a:p>
            <a:pPr marL="114300" indent="0">
              <a:buNone/>
            </a:pPr>
            <a:r>
              <a:rPr lang="en-US" b="1" dirty="0"/>
              <a:t>Preconditions</a:t>
            </a:r>
            <a:r>
              <a:rPr lang="en-US" dirty="0"/>
              <a:t>: Any conditions that must be true before the use 	case can be started</a:t>
            </a:r>
          </a:p>
          <a:p>
            <a:pPr marL="114300" indent="0">
              <a:buNone/>
            </a:pPr>
            <a:r>
              <a:rPr lang="en-US" b="1" dirty="0"/>
              <a:t>Trigger</a:t>
            </a:r>
            <a:r>
              <a:rPr lang="en-US" dirty="0"/>
              <a:t>: Event that initiates the use case</a:t>
            </a:r>
          </a:p>
          <a:p>
            <a:pPr marL="114300" indent="0">
              <a:buNone/>
            </a:pPr>
            <a:r>
              <a:rPr lang="en-US" b="1" dirty="0"/>
              <a:t>Post conditions</a:t>
            </a:r>
            <a:r>
              <a:rPr lang="en-US"/>
              <a:t>: The </a:t>
            </a:r>
            <a:r>
              <a:rPr lang="en-US" dirty="0"/>
              <a:t>state of the system after the execution of 	the use case. </a:t>
            </a:r>
          </a:p>
          <a:p>
            <a:pPr marL="114300" indent="0">
              <a:buNone/>
            </a:pPr>
            <a:r>
              <a:rPr lang="en-US" b="1" dirty="0"/>
              <a:t>Scenario</a:t>
            </a:r>
            <a:r>
              <a:rPr lang="en-US" dirty="0"/>
              <a:t>: Detailed description of the actor’s actions and the 	system responses.</a:t>
            </a:r>
          </a:p>
          <a:p>
            <a:pPr marL="114300" indent="0">
              <a:buNone/>
            </a:pPr>
            <a:r>
              <a:rPr lang="en-US" b="1" dirty="0"/>
              <a:t>Exceptions</a:t>
            </a:r>
            <a:r>
              <a:rPr lang="en-US" dirty="0"/>
              <a:t>: Detailed description of error conditions that could 	occur as well as the system responses in these cases. </a:t>
            </a:r>
          </a:p>
        </p:txBody>
      </p:sp>
    </p:spTree>
    <p:extLst>
      <p:ext uri="{BB962C8B-B14F-4D97-AF65-F5344CB8AC3E}">
        <p14:creationId xmlns:p14="http://schemas.microsoft.com/office/powerpoint/2010/main" val="255402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b="1" dirty="0"/>
              <a:t>Use Case</a:t>
            </a:r>
            <a:r>
              <a:rPr lang="en-US" dirty="0"/>
              <a:t>: Withdraw cash</a:t>
            </a:r>
          </a:p>
          <a:p>
            <a:pPr marL="114300" indent="0">
              <a:buNone/>
            </a:pPr>
            <a:r>
              <a:rPr lang="en-US" b="1" dirty="0"/>
              <a:t>Primary actor</a:t>
            </a:r>
            <a:r>
              <a:rPr lang="en-US" dirty="0"/>
              <a:t>: Customer</a:t>
            </a:r>
          </a:p>
          <a:p>
            <a:pPr marL="114300" indent="0">
              <a:buNone/>
            </a:pPr>
            <a:r>
              <a:rPr lang="en-US" b="1" dirty="0"/>
              <a:t>Goal in context</a:t>
            </a:r>
            <a:r>
              <a:rPr lang="en-US" dirty="0"/>
              <a:t>: Brief description of the use case</a:t>
            </a:r>
          </a:p>
          <a:p>
            <a:pPr marL="114300" indent="0">
              <a:buNone/>
            </a:pPr>
            <a:r>
              <a:rPr lang="en-US" b="1" dirty="0"/>
              <a:t>Preconditions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Customer has active account</a:t>
            </a:r>
          </a:p>
          <a:p>
            <a:pPr lvl="1"/>
            <a:r>
              <a:rPr lang="en-US" dirty="0"/>
              <a:t>Customer has a debit card</a:t>
            </a:r>
          </a:p>
          <a:p>
            <a:pPr marL="114300" indent="0">
              <a:buNone/>
            </a:pPr>
            <a:r>
              <a:rPr lang="en-US" b="1" dirty="0"/>
              <a:t>Trigger</a:t>
            </a:r>
            <a:r>
              <a:rPr lang="en-US" dirty="0"/>
              <a:t>: Event that initiates the use case</a:t>
            </a:r>
          </a:p>
          <a:p>
            <a:pPr marL="114300" indent="0">
              <a:buNone/>
            </a:pPr>
            <a:r>
              <a:rPr lang="en-US" b="1" dirty="0"/>
              <a:t>Post conditions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Customer receives cash</a:t>
            </a:r>
          </a:p>
          <a:p>
            <a:pPr lvl="1"/>
            <a:r>
              <a:rPr lang="en-US" dirty="0"/>
              <a:t>Account balance is reduced by the amount of the withdrawal </a:t>
            </a:r>
          </a:p>
          <a:p>
            <a:pPr marL="114300" indent="0">
              <a:buNone/>
            </a:pPr>
            <a:r>
              <a:rPr lang="en-US" b="1" dirty="0"/>
              <a:t>Scenario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Customer inserts debit card</a:t>
            </a:r>
          </a:p>
          <a:p>
            <a:pPr lvl="1"/>
            <a:r>
              <a:rPr lang="en-US" dirty="0"/>
              <a:t>Customer enters PIN number</a:t>
            </a:r>
          </a:p>
          <a:p>
            <a:pPr lvl="1"/>
            <a:r>
              <a:rPr lang="en-US" dirty="0"/>
              <a:t>System validates if customer has a valid account with the bank</a:t>
            </a:r>
          </a:p>
          <a:p>
            <a:pPr lvl="1"/>
            <a:r>
              <a:rPr lang="en-US" dirty="0"/>
              <a:t>Customer chooses the required account Checking/Savings</a:t>
            </a:r>
          </a:p>
          <a:p>
            <a:pPr lvl="1"/>
            <a:r>
              <a:rPr lang="en-US" dirty="0"/>
              <a:t>Customer selects the amount to withdraw</a:t>
            </a:r>
          </a:p>
          <a:p>
            <a:pPr lvl="1"/>
            <a:r>
              <a:rPr lang="en-US" dirty="0"/>
              <a:t>Customer confirms the amount to withdraw </a:t>
            </a:r>
          </a:p>
          <a:p>
            <a:pPr lvl="1"/>
            <a:r>
              <a:rPr lang="en-US" dirty="0"/>
              <a:t>System ejects money</a:t>
            </a:r>
          </a:p>
          <a:p>
            <a:pPr lvl="1"/>
            <a:r>
              <a:rPr lang="en-US" dirty="0"/>
              <a:t>System ejects the debit card</a:t>
            </a:r>
          </a:p>
          <a:p>
            <a:pPr marL="114300" indent="0">
              <a:buNone/>
            </a:pPr>
            <a:r>
              <a:rPr lang="en-US" b="1" dirty="0"/>
              <a:t>Exceptions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Customer enters an invalid PIN number</a:t>
            </a:r>
          </a:p>
          <a:p>
            <a:pPr lvl="2"/>
            <a:r>
              <a:rPr lang="en-US" dirty="0"/>
              <a:t>System displays a message to the customer to re-enter their PIN</a:t>
            </a:r>
          </a:p>
          <a:p>
            <a:pPr lvl="1"/>
            <a:r>
              <a:rPr lang="en-US" dirty="0"/>
              <a:t>Customer selects an amount higher than the available balance</a:t>
            </a:r>
          </a:p>
          <a:p>
            <a:pPr lvl="2"/>
            <a:r>
              <a:rPr lang="en-US" dirty="0"/>
              <a:t>System displays a message to the customer informing them that they do not have sufficient funds</a:t>
            </a:r>
          </a:p>
          <a:p>
            <a:pPr lvl="2"/>
            <a:r>
              <a:rPr lang="en-US" dirty="0"/>
              <a:t>System displays a message to the customer to re-enter a new amount</a:t>
            </a:r>
          </a:p>
        </p:txBody>
      </p:sp>
    </p:spTree>
    <p:extLst>
      <p:ext uri="{BB962C8B-B14F-4D97-AF65-F5344CB8AC3E}">
        <p14:creationId xmlns:p14="http://schemas.microsoft.com/office/powerpoint/2010/main" val="422254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diagram presenting how:</a:t>
            </a:r>
          </a:p>
          <a:p>
            <a:pPr lvl="1"/>
            <a:r>
              <a:rPr lang="en-US" dirty="0"/>
              <a:t>Actors relate to use cases.</a:t>
            </a:r>
          </a:p>
          <a:p>
            <a:pPr lvl="1"/>
            <a:r>
              <a:rPr lang="en-US" dirty="0"/>
              <a:t>Use cases relate to use cases</a:t>
            </a:r>
          </a:p>
          <a:p>
            <a:r>
              <a:rPr lang="en-US" dirty="0"/>
              <a:t>Built in early stages of development </a:t>
            </a:r>
          </a:p>
          <a:p>
            <a:r>
              <a:rPr lang="en-US" dirty="0"/>
              <a:t>Presents a high-level view of the system</a:t>
            </a:r>
          </a:p>
          <a:p>
            <a:r>
              <a:rPr lang="en-US" dirty="0"/>
              <a:t>Gives an overview of the system</a:t>
            </a:r>
          </a:p>
          <a:p>
            <a:pPr lvl="1"/>
            <a:r>
              <a:rPr lang="en-US" dirty="0"/>
              <a:t>Specifying the system requirements</a:t>
            </a:r>
          </a:p>
          <a:p>
            <a:pPr lvl="1"/>
            <a:r>
              <a:rPr lang="en-US" dirty="0"/>
              <a:t>Validating the system’s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4151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Actors</a:t>
            </a:r>
          </a:p>
          <a:p>
            <a:pPr lvl="1"/>
            <a:endParaRPr lang="en-US" dirty="0"/>
          </a:p>
          <a:p>
            <a:r>
              <a:rPr lang="en-US" dirty="0"/>
              <a:t>Use case or Process </a:t>
            </a:r>
          </a:p>
          <a:p>
            <a:pPr lvl="1"/>
            <a:r>
              <a:rPr lang="en-US" dirty="0"/>
              <a:t>Task to be performed </a:t>
            </a:r>
          </a:p>
          <a:p>
            <a:pPr lvl="1"/>
            <a:r>
              <a:rPr lang="en-US" dirty="0"/>
              <a:t>Is presented by a verb</a:t>
            </a:r>
          </a:p>
          <a:p>
            <a:pPr lvl="1"/>
            <a:r>
              <a:rPr lang="en-US" dirty="0"/>
              <a:t>Each actor is linked to a use case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Relationships/Links </a:t>
            </a:r>
          </a:p>
          <a:p>
            <a:pPr lvl="1"/>
            <a:r>
              <a:rPr lang="en-US" dirty="0"/>
              <a:t>Association</a:t>
            </a:r>
          </a:p>
          <a:p>
            <a:pPr lvl="1"/>
            <a:r>
              <a:rPr lang="en-US" dirty="0"/>
              <a:t>Generalization</a:t>
            </a:r>
          </a:p>
          <a:p>
            <a:pPr lvl="2"/>
            <a:r>
              <a:rPr lang="en-US" dirty="0"/>
              <a:t> Child/parent relations</a:t>
            </a:r>
          </a:p>
          <a:p>
            <a:pPr lvl="1"/>
            <a:r>
              <a:rPr lang="en-US" dirty="0"/>
              <a:t>Include</a:t>
            </a:r>
          </a:p>
          <a:p>
            <a:pPr lvl="2"/>
            <a:r>
              <a:rPr lang="en-US" dirty="0"/>
              <a:t>One use case incorporates the functionality of another use case</a:t>
            </a:r>
          </a:p>
          <a:p>
            <a:pPr lvl="1"/>
            <a:r>
              <a:rPr lang="en-US" dirty="0"/>
              <a:t>Extend</a:t>
            </a:r>
          </a:p>
          <a:p>
            <a:pPr lvl="2"/>
            <a:r>
              <a:rPr lang="en-US" dirty="0"/>
              <a:t>One use case extends the behavior of another use case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3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use case diagram?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main system functionalities</a:t>
            </a:r>
          </a:p>
          <a:p>
            <a:pPr lvl="1"/>
            <a:r>
              <a:rPr lang="en-US" dirty="0"/>
              <a:t>Use cases/tasks to be performed</a:t>
            </a:r>
          </a:p>
          <a:p>
            <a:pPr lvl="1"/>
            <a:r>
              <a:rPr lang="en-US" dirty="0"/>
              <a:t>Use verbs </a:t>
            </a:r>
          </a:p>
          <a:p>
            <a:r>
              <a:rPr lang="en-US" dirty="0"/>
              <a:t>The functions should be in ovals</a:t>
            </a:r>
          </a:p>
          <a:p>
            <a:r>
              <a:rPr lang="en-US" dirty="0"/>
              <a:t>Determine the actors of the system</a:t>
            </a:r>
          </a:p>
          <a:p>
            <a:r>
              <a:rPr lang="en-US" dirty="0"/>
              <a:t>Connect the actors to the use cases</a:t>
            </a:r>
          </a:p>
          <a:p>
            <a:r>
              <a:rPr lang="en-US" dirty="0"/>
              <a:t>Specify the type of relationships (include, extend,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7057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4-08-28 at 2.47.4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1088353"/>
            <a:ext cx="6161285" cy="5410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994" y="298783"/>
            <a:ext cx="7881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Example of 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437457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https://www.visual-paradigm.com/guide/uml-unified-modeling-language/what-is-use-case-diagram/</a:t>
            </a:r>
            <a:endParaRPr lang="en-US" dirty="0"/>
          </a:p>
          <a:p>
            <a:r>
              <a:rPr lang="en-US">
                <a:hlinkClick r:id="rId3"/>
              </a:rPr>
              <a:t>http://www.agilemodeling.com/artifacts/useCaseDiagram.htm</a:t>
            </a:r>
            <a:endParaRPr lang="en-US"/>
          </a:p>
          <a:p>
            <a:r>
              <a:rPr lang="en-US">
                <a:hlinkClick r:id="rId4"/>
              </a:rPr>
              <a:t>http</a:t>
            </a:r>
            <a:r>
              <a:rPr lang="en-US" dirty="0">
                <a:hlinkClick r:id="rId4"/>
              </a:rPr>
              <a:t>://www.tutorialspoint.com/uml/uml_use_case_diagram.htm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19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10139</TotalTime>
  <Words>750</Words>
  <Application>Microsoft Office PowerPoint</Application>
  <PresentationFormat>On-screen Show (4:3)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Adjacency</vt:lpstr>
      <vt:lpstr>Use Cases</vt:lpstr>
      <vt:lpstr>What’s a use case?</vt:lpstr>
      <vt:lpstr>Use case representations</vt:lpstr>
      <vt:lpstr>How to build a Use Case?</vt:lpstr>
      <vt:lpstr>How to build a Use Case? (cont.)</vt:lpstr>
      <vt:lpstr>How to build a Use Case? (cont.)</vt:lpstr>
      <vt:lpstr>Use Case Template  </vt:lpstr>
      <vt:lpstr>Example of Use Case</vt:lpstr>
      <vt:lpstr>Use Case Diagram</vt:lpstr>
      <vt:lpstr>Elements of use case diagram</vt:lpstr>
      <vt:lpstr>How to build a use case diagram?</vt:lpstr>
      <vt:lpstr>PowerPoint Presentation</vt:lpstr>
      <vt:lpstr>Additional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Penney, Nick</cp:lastModifiedBy>
  <cp:revision>33</cp:revision>
  <dcterms:created xsi:type="dcterms:W3CDTF">2014-08-27T16:35:52Z</dcterms:created>
  <dcterms:modified xsi:type="dcterms:W3CDTF">2022-10-28T17:46:11Z</dcterms:modified>
</cp:coreProperties>
</file>